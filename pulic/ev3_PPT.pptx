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318" r:id="rId2"/>
    <p:sldId id="269" r:id="rId3"/>
    <p:sldId id="320" r:id="rId4"/>
    <p:sldId id="319" r:id="rId5"/>
    <p:sldId id="271" r:id="rId6"/>
    <p:sldId id="326" r:id="rId7"/>
    <p:sldId id="327" r:id="rId8"/>
    <p:sldId id="328" r:id="rId9"/>
    <p:sldId id="329" r:id="rId10"/>
    <p:sldId id="330" r:id="rId11"/>
    <p:sldId id="332" r:id="rId12"/>
    <p:sldId id="272" r:id="rId13"/>
    <p:sldId id="278" r:id="rId14"/>
    <p:sldId id="281" r:id="rId15"/>
    <p:sldId id="282" r:id="rId16"/>
    <p:sldId id="286" r:id="rId17"/>
    <p:sldId id="287" r:id="rId18"/>
    <p:sldId id="284" r:id="rId19"/>
    <p:sldId id="288" r:id="rId20"/>
    <p:sldId id="291" r:id="rId21"/>
  </p:sldIdLst>
  <p:sldSz cx="18288000" cy="10287000"/>
  <p:notesSz cx="6858000" cy="9144000"/>
  <p:embeddedFontLst>
    <p:embeddedFont>
      <p:font typeface="나눔고딕 ExtraBold" panose="020B0600000101010101" charset="-127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맑은 고딕" panose="020B0503020000020004" pitchFamily="50" charset="-127"/>
      <p:regular r:id="rId28"/>
      <p:bold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차시" id="{3DF9F596-91B8-4A2D-8DEE-62249779FD6B}">
          <p14:sldIdLst>
            <p14:sldId id="318"/>
            <p14:sldId id="269"/>
            <p14:sldId id="320"/>
            <p14:sldId id="319"/>
            <p14:sldId id="271"/>
            <p14:sldId id="326"/>
            <p14:sldId id="327"/>
            <p14:sldId id="328"/>
            <p14:sldId id="329"/>
            <p14:sldId id="330"/>
            <p14:sldId id="332"/>
            <p14:sldId id="272"/>
            <p14:sldId id="278"/>
            <p14:sldId id="281"/>
            <p14:sldId id="282"/>
            <p14:sldId id="286"/>
            <p14:sldId id="287"/>
            <p14:sldId id="284"/>
            <p14:sldId id="288"/>
            <p14:sldId id="291"/>
          </p14:sldIdLst>
        </p14:section>
        <p14:section name="2차시" id="{113F9858-24B6-4820-B28E-2B665E1482A3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16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AC4C3-4BEB-4ABD-A9AB-FBC87B88A903}" type="datetimeFigureOut">
              <a:rPr lang="ko-KR" altLang="en-US" smtClean="0"/>
              <a:pPr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3DF33-9E3A-4C76-9A15-D7A1B9631C9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4177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퀴즈 형식으로 진행 가능합니다</a:t>
            </a:r>
            <a:r>
              <a:rPr lang="en-US" altLang="ko-KR" dirty="0"/>
              <a:t>!!!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자동차 조립과 용접을 하고 있는 산업용 로봇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수술로봇 다빈치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왼쪽</a:t>
            </a:r>
            <a:r>
              <a:rPr lang="en-US" altLang="ko-KR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ko-KR" alt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화성탐사로봇큐리오시티</a:t>
            </a:r>
            <a:endParaRPr lang="en-US" altLang="ko-KR" sz="1200" b="0" i="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ko-KR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오른쪽</a:t>
            </a:r>
            <a:r>
              <a:rPr lang="en-US" altLang="ko-KR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r>
              <a:rPr lang="ko-KR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독일 우주항공센터</a:t>
            </a:r>
            <a:r>
              <a:rPr lang="en-US" altLang="ko-KR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(German Aerospace Center)</a:t>
            </a:r>
            <a:r>
              <a:rPr lang="ko-KR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가 이탈리아 시칠리에 있는 활화산 ‘</a:t>
            </a:r>
            <a:r>
              <a:rPr lang="ko-KR" altLang="en-US" sz="1200" b="0" i="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에트나산</a:t>
            </a:r>
            <a:r>
              <a:rPr lang="en-US" altLang="ko-KR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(Mount Etna)’</a:t>
            </a:r>
            <a:r>
              <a:rPr lang="ko-KR" altLang="en-US" sz="1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에서 달탐사 로봇을 테스트하고 있다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반려 동물 돌보는 로봇 아이들과 상호작용하는 </a:t>
            </a:r>
            <a:r>
              <a:rPr lang="ko-KR" altLang="en-US" dirty="0" err="1"/>
              <a:t>반응형</a:t>
            </a:r>
            <a:r>
              <a:rPr lang="ko-KR" altLang="en-US" dirty="0"/>
              <a:t> 로봇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현대 </a:t>
            </a:r>
            <a:r>
              <a:rPr lang="ko-KR" altLang="en-US" dirty="0" err="1"/>
              <a:t>로템</a:t>
            </a:r>
            <a:r>
              <a:rPr lang="ko-KR" altLang="en-US" dirty="0"/>
              <a:t> </a:t>
            </a:r>
            <a:r>
              <a:rPr lang="ko-KR" altLang="en-US" dirty="0" err="1"/>
              <a:t>레인보우틱스</a:t>
            </a:r>
            <a:r>
              <a:rPr lang="ko-KR" altLang="en-US" dirty="0"/>
              <a:t> 군용로봇 무인무기체계를 갖춘 로봇</a:t>
            </a:r>
            <a:r>
              <a:rPr lang="en-US" altLang="ko-KR" dirty="0"/>
              <a:t>.</a:t>
            </a:r>
            <a:r>
              <a:rPr lang="ko-KR" altLang="en-US" dirty="0"/>
              <a:t> 군사적인 목적으로 로봇이 사용되고 개발되고 있지만 경각심을 가져야 하는 부분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33DF33-9E3A-4C76-9A15-D7A1B9631C9C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5.jpeg"/><Relationship Id="rId4" Type="http://schemas.openxmlformats.org/officeDocument/2006/relationships/image" Target="../media/image2.png"/><Relationship Id="rId9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21.png"/><Relationship Id="rId5" Type="http://schemas.openxmlformats.org/officeDocument/2006/relationships/image" Target="../media/image3.png"/><Relationship Id="rId10" Type="http://schemas.openxmlformats.org/officeDocument/2006/relationships/image" Target="../media/image20.jpeg"/><Relationship Id="rId4" Type="http://schemas.openxmlformats.org/officeDocument/2006/relationships/image" Target="../media/image2.pn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8.png"/><Relationship Id="rId4" Type="http://schemas.openxmlformats.org/officeDocument/2006/relationships/image" Target="../media/image3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38.png"/><Relationship Id="rId4" Type="http://schemas.openxmlformats.org/officeDocument/2006/relationships/image" Target="../media/image3.png"/><Relationship Id="rId9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sp>
        <p:nvSpPr>
          <p:cNvPr id="11" name="제목 1"/>
          <p:cNvSpPr txBox="1">
            <a:spLocks/>
          </p:cNvSpPr>
          <p:nvPr/>
        </p:nvSpPr>
        <p:spPr>
          <a:xfrm>
            <a:off x="7162800" y="1638300"/>
            <a:ext cx="10591800" cy="4114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  <a:cs typeface="+mn-cs"/>
            </a:endParaRPr>
          </a:p>
        </p:txBody>
      </p:sp>
      <p:pic>
        <p:nvPicPr>
          <p:cNvPr id="12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125413" y="1623219"/>
            <a:ext cx="4403974" cy="704056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5715001" y="1638300"/>
            <a:ext cx="11582399" cy="452995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 algn="ctr">
              <a:lnSpc>
                <a:spcPct val="150000"/>
              </a:lnSpc>
            </a:pP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안녕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~ 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만나서 반가워요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 나는 사람이 하기 힘든 일을 대신해주는 기계 장치로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 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요즘은 사람과 비슷한 모습을 하고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사람의 일을 대신하기도 해요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 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또 나를 움직이려면 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[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명령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]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이 필요해요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.   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나는 무엇일까요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?</a:t>
            </a:r>
            <a:endParaRPr lang="ko-KR" altLang="en-US" sz="4400" dirty="0">
              <a:latin typeface="나눔스퀘어OTF_ac Bold" panose="020B0600000101010101" pitchFamily="34" charset="-127"/>
              <a:ea typeface="나눔스퀘어OTF_ac Bold" panose="020B0600000101010101" pitchFamily="34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6737509"/>
            <a:ext cx="7883774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00" dirty="0">
                <a:solidFill>
                  <a:srgbClr val="FF0000"/>
                </a:solidFill>
                <a:latin typeface="나눔스퀘어OTF ExtraBold" panose="020B0600000101010101" pitchFamily="34" charset="-127"/>
                <a:ea typeface="나눔스퀘어OTF ExtraBold" panose="020B0600000101010101" pitchFamily="34" charset="-127"/>
                <a:cs typeface="+mj-cs"/>
              </a:rPr>
              <a:t>로봇</a:t>
            </a:r>
            <a:endParaRPr lang="ko-KR" altLang="en-US" sz="4000" dirty="0">
              <a:solidFill>
                <a:srgbClr val="FF0000"/>
              </a:solidFill>
              <a:latin typeface="나눔스퀘어OTF ExtraBold" panose="020B0600000101010101" pitchFamily="34" charset="-127"/>
              <a:ea typeface="나눔스퀘어OTF ExtraBold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7815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6705600" y="1953986"/>
            <a:ext cx="10591800" cy="3657600"/>
          </a:xfrm>
        </p:spPr>
        <p:txBody>
          <a:bodyPr>
            <a:normAutofit/>
          </a:bodyPr>
          <a:lstStyle/>
          <a:p>
            <a:pPr algn="ctr">
              <a:lnSpc>
                <a:spcPts val="8500"/>
              </a:lnSpc>
            </a:pPr>
            <a:r>
              <a:rPr lang="ko-KR" altLang="en-US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인간의 학습능력과 추론능력</a:t>
            </a:r>
            <a:r>
              <a:rPr lang="en-US" altLang="ko-KR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지각능력</a:t>
            </a:r>
            <a:r>
              <a:rPr lang="en-US" altLang="ko-KR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, </a:t>
            </a:r>
            <a:r>
              <a:rPr lang="ko-KR" altLang="en-US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자연언어의 </a:t>
            </a:r>
            <a:r>
              <a:rPr lang="ko-KR" altLang="en-US" dirty="0" err="1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이해능력</a:t>
            </a:r>
            <a:r>
              <a:rPr lang="ko-KR" altLang="en-US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 등을 컴퓨터 프로그램으로 실현한 기술은</a:t>
            </a:r>
            <a:r>
              <a:rPr lang="en-US" altLang="ko-KR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  <a:cs typeface="+mn-cs"/>
              </a:rPr>
              <a:t>?</a:t>
            </a:r>
            <a:endParaRPr lang="ko-KR" altLang="en-US" dirty="0">
              <a:solidFill>
                <a:schemeClr val="dk1"/>
              </a:solidFill>
              <a:latin typeface="나눔스퀘어OTF_ac Bold" panose="020B0600000101010101" pitchFamily="34" charset="-127"/>
              <a:ea typeface="나눔스퀘어OTF_ac Bold" panose="020B0600000101010101" pitchFamily="34" charset="-127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987042" y="6270172"/>
            <a:ext cx="7883774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00" dirty="0">
                <a:solidFill>
                  <a:srgbClr val="FF0000"/>
                </a:solidFill>
                <a:latin typeface="나눔스퀘어OTF_ac Bold" pitchFamily="34" charset="-127"/>
                <a:ea typeface="나눔스퀘어OTF_ac Bold" pitchFamily="34" charset="-127"/>
                <a:cs typeface="+mj-cs"/>
              </a:rPr>
              <a:t>인공지능</a:t>
            </a:r>
            <a:endParaRPr lang="ko-KR" altLang="en-US" sz="4000" dirty="0">
              <a:solidFill>
                <a:srgbClr val="FF0000"/>
              </a:solidFill>
              <a:latin typeface="나눔스퀘어OTF_ac Bold" pitchFamily="34" charset="-127"/>
              <a:ea typeface="나눔스퀘어OTF_ac Bold" pitchFamily="34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5" cstate="print"/>
          <a:srcRect r="22788"/>
          <a:stretch/>
        </p:blipFill>
        <p:spPr>
          <a:xfrm>
            <a:off x="1066800" y="1854984"/>
            <a:ext cx="5219700" cy="7347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7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A8108C90-F34A-CBB0-D227-E058AA73EB2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24" y="1638300"/>
            <a:ext cx="15662651" cy="4010275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267200" y="5905500"/>
            <a:ext cx="1040060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4400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컴퓨터가</a:t>
            </a:r>
            <a:r>
              <a:rPr lang="en-US" altLang="ko-KR" sz="4400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 </a:t>
            </a:r>
            <a:r>
              <a:rPr lang="ko-KR" altLang="en-US" sz="4400" dirty="0">
                <a:solidFill>
                  <a:schemeClr val="dk1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일을 할 수 있도록 명령을 만드는 작업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2113" y="6888657"/>
            <a:ext cx="7883774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00" dirty="0">
                <a:solidFill>
                  <a:srgbClr val="FF0000"/>
                </a:solidFill>
                <a:latin typeface="나눔스퀘어OTF_ac Bold" pitchFamily="34" charset="-127"/>
                <a:ea typeface="나눔스퀘어OTF_ac Bold" pitchFamily="34" charset="-127"/>
                <a:cs typeface="+mj-cs"/>
              </a:rPr>
              <a:t>코딩</a:t>
            </a:r>
            <a:endParaRPr lang="ko-KR" altLang="en-US" sz="4000" dirty="0">
              <a:solidFill>
                <a:srgbClr val="FF0000"/>
              </a:solidFill>
              <a:latin typeface="나눔스퀘어OTF_ac Bold" pitchFamily="34" charset="-127"/>
              <a:ea typeface="나눔스퀘어OTF_ac Bold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2413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sp>
        <p:nvSpPr>
          <p:cNvPr id="11" name="제목 1"/>
          <p:cNvSpPr txBox="1">
            <a:spLocks/>
          </p:cNvSpPr>
          <p:nvPr/>
        </p:nvSpPr>
        <p:spPr>
          <a:xfrm>
            <a:off x="7162800" y="1638300"/>
            <a:ext cx="10591800" cy="41148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latin typeface="나눔스퀘어OTF_ac Bold" panose="020B0600000101010101" pitchFamily="34" charset="-127"/>
              <a:ea typeface="나눔스퀘어OTF_ac Bold" panose="020B0600000101010101" pitchFamily="34" charset="-127"/>
              <a:cs typeface="+mn-cs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524000" y="4560338"/>
            <a:ext cx="15646400" cy="21833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0" tIns="0" rIns="0" bIns="0" rtlCol="0" anchor="t" anchorCtr="0"/>
          <a:lstStyle/>
          <a:p>
            <a:pPr>
              <a:lnSpc>
                <a:spcPct val="150000"/>
              </a:lnSpc>
            </a:pP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어떤 </a:t>
            </a:r>
            <a:r>
              <a:rPr lang="ko-KR" altLang="en-US" sz="4400" dirty="0">
                <a:solidFill>
                  <a:srgbClr val="FF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문제를 해결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하기 위한 </a:t>
            </a:r>
            <a:r>
              <a:rPr lang="ko-KR" altLang="en-US" sz="4400" dirty="0">
                <a:solidFill>
                  <a:srgbClr val="FF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절차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나 </a:t>
            </a:r>
            <a:r>
              <a:rPr lang="ko-KR" altLang="en-US" sz="4400" dirty="0">
                <a:solidFill>
                  <a:srgbClr val="FF0000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방법</a:t>
            </a: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으로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ko-KR" altLang="en-US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문제를 해결하기 위한 일의 순서를 정리해 놓은 것을 무엇이라고 합니까</a:t>
            </a:r>
            <a:r>
              <a:rPr lang="en-US" altLang="ko-KR" sz="4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1626" y="6865043"/>
            <a:ext cx="7883774" cy="221599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800" dirty="0">
                <a:solidFill>
                  <a:srgbClr val="FF0000"/>
                </a:solidFill>
                <a:latin typeface="나눔스퀘어OTF_ac Bold" pitchFamily="34" charset="-127"/>
                <a:ea typeface="나눔스퀘어OTF_ac Bold" pitchFamily="34" charset="-127"/>
                <a:cs typeface="+mj-cs"/>
              </a:rPr>
              <a:t>알고리즘</a:t>
            </a:r>
            <a:endParaRPr lang="ko-KR" altLang="en-US" sz="4000" dirty="0">
              <a:solidFill>
                <a:srgbClr val="FF0000"/>
              </a:solidFill>
              <a:latin typeface="나눔스퀘어OTF_ac Bold" pitchFamily="34" charset="-127"/>
              <a:ea typeface="나눔스퀘어OTF_ac Bold" pitchFamily="34" charset="-127"/>
            </a:endParaRPr>
          </a:p>
        </p:txBody>
      </p:sp>
      <p:pic>
        <p:nvPicPr>
          <p:cNvPr id="15" name="내용 개체 틀 8">
            <a:extLst>
              <a:ext uri="{FF2B5EF4-FFF2-40B4-BE49-F238E27FC236}">
                <a16:creationId xmlns:a16="http://schemas.microsoft.com/office/drawing/2014/main" id="{AF416B4F-F4EF-813C-1A58-D6CB50B5B28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00" y="1477895"/>
            <a:ext cx="13258800" cy="328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6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4">
            <a:extLst>
              <a:ext uri="{FF2B5EF4-FFF2-40B4-BE49-F238E27FC236}">
                <a16:creationId xmlns:a16="http://schemas.microsoft.com/office/drawing/2014/main" id="{193ECA61-2976-397B-0958-7D650EB1BB34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9895" y="2324100"/>
            <a:ext cx="7353847" cy="682173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AE2F063-81F8-BCC3-D5A7-93DE1BF50489}"/>
              </a:ext>
            </a:extLst>
          </p:cNvPr>
          <p:cNvSpPr/>
          <p:nvPr/>
        </p:nvSpPr>
        <p:spPr>
          <a:xfrm>
            <a:off x="1243263" y="3015993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6E06F-9DFC-F901-5D95-D6563E9C48AA}"/>
              </a:ext>
            </a:extLst>
          </p:cNvPr>
          <p:cNvSpPr txBox="1"/>
          <p:nvPr/>
        </p:nvSpPr>
        <p:spPr>
          <a:xfrm>
            <a:off x="1801806" y="3113328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가정용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F4411B-87EB-3B78-5B23-AC856A6DB852}"/>
              </a:ext>
            </a:extLst>
          </p:cNvPr>
          <p:cNvSpPr/>
          <p:nvPr/>
        </p:nvSpPr>
        <p:spPr>
          <a:xfrm>
            <a:off x="1219200" y="5013235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42ADC-D6F7-1C9C-66B2-4D693C73C550}"/>
              </a:ext>
            </a:extLst>
          </p:cNvPr>
          <p:cNvSpPr txBox="1"/>
          <p:nvPr/>
        </p:nvSpPr>
        <p:spPr>
          <a:xfrm>
            <a:off x="1777743" y="5110570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놀이용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3B50F7-48CE-3AD9-2306-85D4CC8B2B6F}"/>
              </a:ext>
            </a:extLst>
          </p:cNvPr>
          <p:cNvSpPr/>
          <p:nvPr/>
        </p:nvSpPr>
        <p:spPr>
          <a:xfrm>
            <a:off x="1219200" y="6962351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F75A4-DB5B-AD3C-B14F-D5EA7A6B7C3E}"/>
              </a:ext>
            </a:extLst>
          </p:cNvPr>
          <p:cNvSpPr txBox="1"/>
          <p:nvPr/>
        </p:nvSpPr>
        <p:spPr>
          <a:xfrm>
            <a:off x="1777743" y="7059686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군사용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4D0005-CB40-B242-5340-3AAE62C32A9A}"/>
              </a:ext>
            </a:extLst>
          </p:cNvPr>
          <p:cNvSpPr/>
          <p:nvPr/>
        </p:nvSpPr>
        <p:spPr>
          <a:xfrm>
            <a:off x="12824471" y="8201526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A2A0E5-8E9B-34CC-0E97-B1FD27EAA3B2}"/>
              </a:ext>
            </a:extLst>
          </p:cNvPr>
          <p:cNvSpPr txBox="1"/>
          <p:nvPr/>
        </p:nvSpPr>
        <p:spPr>
          <a:xfrm>
            <a:off x="13383014" y="8298861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산업용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416BD-909E-D691-B7D2-99A4B3D9E9DC}"/>
              </a:ext>
            </a:extLst>
          </p:cNvPr>
          <p:cNvSpPr/>
          <p:nvPr/>
        </p:nvSpPr>
        <p:spPr>
          <a:xfrm>
            <a:off x="12824471" y="5891463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A9A19B-6FA0-E794-8B05-19CFD17E5B79}"/>
              </a:ext>
            </a:extLst>
          </p:cNvPr>
          <p:cNvSpPr txBox="1"/>
          <p:nvPr/>
        </p:nvSpPr>
        <p:spPr>
          <a:xfrm>
            <a:off x="13030346" y="5988798"/>
            <a:ext cx="377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/>
              <a:t>우주탐사용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A449B3-6E70-C5AE-8E01-A34D4A0EE5AA}"/>
              </a:ext>
            </a:extLst>
          </p:cNvPr>
          <p:cNvSpPr/>
          <p:nvPr/>
        </p:nvSpPr>
        <p:spPr>
          <a:xfrm>
            <a:off x="12800408" y="3437021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72C12C-F262-0A84-3895-3DB276CC5D1B}"/>
              </a:ext>
            </a:extLst>
          </p:cNvPr>
          <p:cNvSpPr txBox="1"/>
          <p:nvPr/>
        </p:nvSpPr>
        <p:spPr>
          <a:xfrm>
            <a:off x="13358951" y="3534356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의료용</a:t>
            </a:r>
          </a:p>
        </p:txBody>
      </p: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5200AD5E-8B42-ABEA-9263-F060D47348A5}"/>
              </a:ext>
            </a:extLst>
          </p:cNvPr>
          <p:cNvCxnSpPr>
            <a:stCxn id="10" idx="3"/>
          </p:cNvCxnSpPr>
          <p:nvPr/>
        </p:nvCxnSpPr>
        <p:spPr>
          <a:xfrm flipV="1">
            <a:off x="5015163" y="2664742"/>
            <a:ext cx="2723893" cy="884651"/>
          </a:xfrm>
          <a:prstGeom prst="bentConnector3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4AD06F44-1CBB-34D8-F8D3-697C326FA068}"/>
              </a:ext>
            </a:extLst>
          </p:cNvPr>
          <p:cNvCxnSpPr>
            <a:cxnSpLocks/>
          </p:cNvCxnSpPr>
          <p:nvPr/>
        </p:nvCxnSpPr>
        <p:spPr>
          <a:xfrm flipV="1">
            <a:off x="5015163" y="4820957"/>
            <a:ext cx="851835" cy="797444"/>
          </a:xfrm>
          <a:prstGeom prst="bentConnector3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82FAA6C7-2236-59DA-3750-99913D8CF5A5}"/>
              </a:ext>
            </a:extLst>
          </p:cNvPr>
          <p:cNvCxnSpPr>
            <a:cxnSpLocks/>
          </p:cNvCxnSpPr>
          <p:nvPr/>
        </p:nvCxnSpPr>
        <p:spPr>
          <a:xfrm flipV="1">
            <a:off x="4942973" y="6861085"/>
            <a:ext cx="1102227" cy="682792"/>
          </a:xfrm>
          <a:prstGeom prst="bentConnector3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9812FD2F-4E95-87BE-2266-071535588EE1}"/>
              </a:ext>
            </a:extLst>
          </p:cNvPr>
          <p:cNvCxnSpPr>
            <a:cxnSpLocks/>
          </p:cNvCxnSpPr>
          <p:nvPr/>
        </p:nvCxnSpPr>
        <p:spPr>
          <a:xfrm flipV="1">
            <a:off x="12127308" y="3621159"/>
            <a:ext cx="697163" cy="349262"/>
          </a:xfrm>
          <a:prstGeom prst="bentConnector3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2FEDEA52-A2BA-FD6D-B8EA-6B749227B24D}"/>
              </a:ext>
            </a:extLst>
          </p:cNvPr>
          <p:cNvCxnSpPr>
            <a:cxnSpLocks/>
          </p:cNvCxnSpPr>
          <p:nvPr/>
        </p:nvCxnSpPr>
        <p:spPr>
          <a:xfrm flipV="1">
            <a:off x="12065676" y="6923921"/>
            <a:ext cx="846958" cy="499506"/>
          </a:xfrm>
          <a:prstGeom prst="bentConnector3">
            <a:avLst/>
          </a:prstGeom>
          <a:ln w="38100">
            <a:solidFill>
              <a:srgbClr val="92D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8DF37D44-ED8D-8E2E-4408-11677C9F8490}"/>
              </a:ext>
            </a:extLst>
          </p:cNvPr>
          <p:cNvCxnSpPr>
            <a:cxnSpLocks/>
          </p:cNvCxnSpPr>
          <p:nvPr/>
        </p:nvCxnSpPr>
        <p:spPr>
          <a:xfrm flipV="1">
            <a:off x="9331842" y="8458220"/>
            <a:ext cx="3468566" cy="687619"/>
          </a:xfrm>
          <a:prstGeom prst="bentConnector3">
            <a:avLst/>
          </a:prstGeom>
          <a:ln w="57150">
            <a:solidFill>
              <a:schemeClr val="accent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AE2F063-81F8-BCC3-D5A7-93DE1BF50489}"/>
              </a:ext>
            </a:extLst>
          </p:cNvPr>
          <p:cNvSpPr/>
          <p:nvPr/>
        </p:nvSpPr>
        <p:spPr>
          <a:xfrm>
            <a:off x="2057400" y="2247900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6E06F-9DFC-F901-5D95-D6563E9C48AA}"/>
              </a:ext>
            </a:extLst>
          </p:cNvPr>
          <p:cNvSpPr txBox="1"/>
          <p:nvPr/>
        </p:nvSpPr>
        <p:spPr>
          <a:xfrm>
            <a:off x="2590800" y="2324100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가정용</a:t>
            </a:r>
          </a:p>
        </p:txBody>
      </p:sp>
      <p:pic>
        <p:nvPicPr>
          <p:cNvPr id="28" name="내용 개체 틀 3" descr="가정용로봇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467600" y="2324100"/>
            <a:ext cx="8925265" cy="5954428"/>
          </a:xfrm>
          <a:prstGeom prst="rect">
            <a:avLst/>
          </a:prstGeom>
        </p:spPr>
      </p:pic>
      <p:pic>
        <p:nvPicPr>
          <p:cNvPr id="29" name="내용 개체 틀 5" descr="로봇청소기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524000" y="4229100"/>
            <a:ext cx="5470879" cy="307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E94D0005-CB40-B242-5340-3AAE62C32A9A}"/>
              </a:ext>
            </a:extLst>
          </p:cNvPr>
          <p:cNvSpPr/>
          <p:nvPr/>
        </p:nvSpPr>
        <p:spPr>
          <a:xfrm>
            <a:off x="12824471" y="8201526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A2A0E5-8E9B-34CC-0E97-B1FD27EAA3B2}"/>
              </a:ext>
            </a:extLst>
          </p:cNvPr>
          <p:cNvSpPr txBox="1"/>
          <p:nvPr/>
        </p:nvSpPr>
        <p:spPr>
          <a:xfrm>
            <a:off x="13383014" y="8298861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산업용</a:t>
            </a:r>
          </a:p>
        </p:txBody>
      </p:sp>
      <p:pic>
        <p:nvPicPr>
          <p:cNvPr id="28" name="내용 개체 틀 7" descr="사업용로봇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66800" y="2628900"/>
            <a:ext cx="7889781" cy="5257800"/>
          </a:xfrm>
          <a:prstGeom prst="rect">
            <a:avLst/>
          </a:prstGeom>
        </p:spPr>
      </p:pic>
      <p:pic>
        <p:nvPicPr>
          <p:cNvPr id="29" name="내용 개체 틀 9" descr="산업용 로봇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220200" y="2628900"/>
            <a:ext cx="78867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A449B3-6E70-C5AE-8E01-A34D4A0EE5AA}"/>
              </a:ext>
            </a:extLst>
          </p:cNvPr>
          <p:cNvSpPr/>
          <p:nvPr/>
        </p:nvSpPr>
        <p:spPr>
          <a:xfrm>
            <a:off x="12800408" y="3437021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72C12C-F262-0A84-3895-3DB276CC5D1B}"/>
              </a:ext>
            </a:extLst>
          </p:cNvPr>
          <p:cNvSpPr txBox="1"/>
          <p:nvPr/>
        </p:nvSpPr>
        <p:spPr>
          <a:xfrm>
            <a:off x="13358951" y="3534356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의료용</a:t>
            </a:r>
          </a:p>
        </p:txBody>
      </p:sp>
      <p:pic>
        <p:nvPicPr>
          <p:cNvPr id="28" name="내용 개체 틀 11" descr="의료용로봇.pn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90600" y="2171700"/>
            <a:ext cx="1095695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9F2416BD-909E-D691-B7D2-99A4B3D9E9DC}"/>
              </a:ext>
            </a:extLst>
          </p:cNvPr>
          <p:cNvSpPr/>
          <p:nvPr/>
        </p:nvSpPr>
        <p:spPr>
          <a:xfrm>
            <a:off x="7239000" y="8115300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A9A19B-6FA0-E794-8B05-19CFD17E5B79}"/>
              </a:ext>
            </a:extLst>
          </p:cNvPr>
          <p:cNvSpPr txBox="1"/>
          <p:nvPr/>
        </p:nvSpPr>
        <p:spPr>
          <a:xfrm>
            <a:off x="7444875" y="8212635"/>
            <a:ext cx="3771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/>
              <a:t>우주탐사용</a:t>
            </a:r>
          </a:p>
        </p:txBody>
      </p:sp>
      <p:pic>
        <p:nvPicPr>
          <p:cNvPr id="28" name="내용 개체 틀 13" descr="우주탐사용로봇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9277" y="2857500"/>
            <a:ext cx="7720397" cy="4830763"/>
          </a:xfrm>
          <a:prstGeom prst="rect">
            <a:avLst/>
          </a:prstGeom>
        </p:spPr>
      </p:pic>
      <p:pic>
        <p:nvPicPr>
          <p:cNvPr id="29" name="내용 개체 틀 15" descr="우주탐사로봇.pn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220200" y="2781300"/>
            <a:ext cx="7580517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AF4411B-87EB-3B78-5B23-AC856A6DB852}"/>
              </a:ext>
            </a:extLst>
          </p:cNvPr>
          <p:cNvSpPr/>
          <p:nvPr/>
        </p:nvSpPr>
        <p:spPr>
          <a:xfrm>
            <a:off x="1600200" y="6515100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A42ADC-D6F7-1C9C-66B2-4D693C73C550}"/>
              </a:ext>
            </a:extLst>
          </p:cNvPr>
          <p:cNvSpPr txBox="1"/>
          <p:nvPr/>
        </p:nvSpPr>
        <p:spPr>
          <a:xfrm>
            <a:off x="2158743" y="6612435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놀이용</a:t>
            </a:r>
          </a:p>
        </p:txBody>
      </p:sp>
      <p:pic>
        <p:nvPicPr>
          <p:cNvPr id="28" name="내용 개체 틀 17" descr="fhqht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658600" y="2552700"/>
            <a:ext cx="5329750" cy="5410200"/>
          </a:xfrm>
          <a:prstGeom prst="rect">
            <a:avLst/>
          </a:prstGeom>
        </p:spPr>
      </p:pic>
      <p:pic>
        <p:nvPicPr>
          <p:cNvPr id="29" name="내용 개체 틀 19" descr="애완동물 돌봄로봇.jpg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8200" y="2400300"/>
            <a:ext cx="6240712" cy="3505200"/>
          </a:xfrm>
          <a:prstGeom prst="rect">
            <a:avLst/>
          </a:prstGeom>
        </p:spPr>
      </p:pic>
      <p:pic>
        <p:nvPicPr>
          <p:cNvPr id="30" name="내용 개체 틀 21" descr="놀이용로봇.pn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391400" y="3924300"/>
            <a:ext cx="3918857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0400" y="1333500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53594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로봇의 종류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743B50F7-48CE-3AD9-2306-85D4CC8B2B6F}"/>
              </a:ext>
            </a:extLst>
          </p:cNvPr>
          <p:cNvSpPr/>
          <p:nvPr/>
        </p:nvSpPr>
        <p:spPr>
          <a:xfrm>
            <a:off x="1219200" y="6962351"/>
            <a:ext cx="3771900" cy="1066800"/>
          </a:xfrm>
          <a:prstGeom prst="rect">
            <a:avLst/>
          </a:prstGeom>
          <a:solidFill>
            <a:srgbClr val="A0A8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26F75A4-DB5B-AD3C-B14F-D5EA7A6B7C3E}"/>
              </a:ext>
            </a:extLst>
          </p:cNvPr>
          <p:cNvSpPr txBox="1"/>
          <p:nvPr/>
        </p:nvSpPr>
        <p:spPr>
          <a:xfrm>
            <a:off x="1777743" y="7059686"/>
            <a:ext cx="30228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b="1" dirty="0"/>
              <a:t>군사용</a:t>
            </a:r>
          </a:p>
        </p:txBody>
      </p:sp>
      <p:pic>
        <p:nvPicPr>
          <p:cNvPr id="30" name="내용 개체 틀 23" descr="01.29547832.1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943600" y="2476500"/>
            <a:ext cx="9061807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4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11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3905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0400" y="1314450"/>
            <a:ext cx="16954500" cy="83058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BC41F7A-0140-D12D-59CC-4A39A20104F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65893" y="1680967"/>
            <a:ext cx="15367836" cy="7757519"/>
          </a:xfrm>
          <a:prstGeom prst="rect">
            <a:avLst/>
          </a:prstGeom>
        </p:spPr>
      </p:pic>
      <p:pic>
        <p:nvPicPr>
          <p:cNvPr id="15" name="내용 개체 틀 8">
            <a:extLst>
              <a:ext uri="{FF2B5EF4-FFF2-40B4-BE49-F238E27FC236}">
                <a16:creationId xmlns:a16="http://schemas.microsoft.com/office/drawing/2014/main" id="{F09C7A33-0C6B-741C-B913-3F199A5858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87" y="6496227"/>
            <a:ext cx="4194412" cy="254834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DE0505-E4EB-C8A3-13E3-F74463D92067}"/>
              </a:ext>
            </a:extLst>
          </p:cNvPr>
          <p:cNvSpPr txBox="1"/>
          <p:nvPr/>
        </p:nvSpPr>
        <p:spPr>
          <a:xfrm>
            <a:off x="7091362" y="5372100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하드웨어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086283-FD49-C873-FB39-05F9E7F52CB8}"/>
              </a:ext>
            </a:extLst>
          </p:cNvPr>
          <p:cNvSpPr txBox="1"/>
          <p:nvPr/>
        </p:nvSpPr>
        <p:spPr>
          <a:xfrm>
            <a:off x="7497266" y="8308115"/>
            <a:ext cx="2057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에너지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D034FE9-065C-3379-DCC3-0AF4BFD35B3E}"/>
              </a:ext>
            </a:extLst>
          </p:cNvPr>
          <p:cNvSpPr txBox="1"/>
          <p:nvPr/>
        </p:nvSpPr>
        <p:spPr>
          <a:xfrm>
            <a:off x="9886950" y="6296025"/>
            <a:ext cx="205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소프트웨어</a:t>
            </a:r>
          </a:p>
        </p:txBody>
      </p:sp>
      <p:pic>
        <p:nvPicPr>
          <p:cNvPr id="16" name="Picture 5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081170" y="552450"/>
            <a:ext cx="10863179" cy="1371600"/>
          </a:xfrm>
          <a:prstGeom prst="rect">
            <a:avLst/>
          </a:prstGeom>
        </p:spPr>
      </p:pic>
      <p:pic>
        <p:nvPicPr>
          <p:cNvPr id="17" name="Picture 6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20" name="TextBox 8"/>
          <p:cNvSpPr txBox="1"/>
          <p:nvPr/>
        </p:nvSpPr>
        <p:spPr>
          <a:xfrm>
            <a:off x="2732170" y="850566"/>
            <a:ext cx="8774029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로봇은 어떻게 움직이나요</a:t>
            </a:r>
            <a:r>
              <a:rPr lang="en-US" altLang="ko-KR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endParaRPr lang="en-US" sz="60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2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057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811" y="241565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0" y="964866"/>
            <a:ext cx="893913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로봇이</a:t>
            </a:r>
            <a:r>
              <a:rPr lang="ko-KR" altLang="en-US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되었어요</a:t>
            </a:r>
            <a:endParaRPr lang="en-US" sz="44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E502B1-1EA3-FEF9-E28C-09739871B0E2}"/>
              </a:ext>
            </a:extLst>
          </p:cNvPr>
          <p:cNvSpPr txBox="1"/>
          <p:nvPr/>
        </p:nvSpPr>
        <p:spPr>
          <a:xfrm>
            <a:off x="2544805" y="2439660"/>
            <a:ext cx="13944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/>
              <a:t>로봇은 </a:t>
            </a:r>
            <a:r>
              <a:rPr lang="ko-KR" altLang="en-US" sz="6600" b="1" dirty="0">
                <a:solidFill>
                  <a:srgbClr val="FF0000"/>
                </a:solidFill>
              </a:rPr>
              <a:t>명령</a:t>
            </a:r>
            <a:r>
              <a:rPr lang="ko-KR" altLang="en-US" sz="6600" b="1" dirty="0"/>
              <a:t>에 의해서만 움직입니다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E8168D-CCEE-6385-95E4-2D98CE719450}"/>
              </a:ext>
            </a:extLst>
          </p:cNvPr>
          <p:cNvSpPr txBox="1"/>
          <p:nvPr/>
        </p:nvSpPr>
        <p:spPr>
          <a:xfrm>
            <a:off x="7405201" y="3586067"/>
            <a:ext cx="8532198" cy="4896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800" b="1" dirty="0"/>
              <a:t>&lt; </a:t>
            </a:r>
            <a:r>
              <a:rPr lang="ko-KR" altLang="en-US" sz="4800" b="1" dirty="0"/>
              <a:t>명령 예시 </a:t>
            </a:r>
            <a:r>
              <a:rPr lang="en-US" altLang="ko-KR" sz="4800" b="1" dirty="0"/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4800" b="1" dirty="0"/>
              <a:t>- </a:t>
            </a:r>
            <a:r>
              <a:rPr lang="ko-KR" altLang="en-US" sz="4800" b="1" dirty="0"/>
              <a:t>앞으로 걷기</a:t>
            </a:r>
            <a:r>
              <a:rPr lang="en-US" altLang="ko-KR" sz="4800" b="1" dirty="0"/>
              <a:t>,</a:t>
            </a:r>
            <a:r>
              <a:rPr lang="ko-KR" altLang="en-US" sz="4800" b="1" dirty="0"/>
              <a:t>뒤로 걷기</a:t>
            </a:r>
            <a:endParaRPr lang="en-US" altLang="ko-KR" sz="4800" b="1" dirty="0"/>
          </a:p>
          <a:p>
            <a:pPr>
              <a:lnSpc>
                <a:spcPct val="150000"/>
              </a:lnSpc>
            </a:pPr>
            <a:r>
              <a:rPr lang="en-US" altLang="ko-KR" sz="4800" b="1" dirty="0"/>
              <a:t>- </a:t>
            </a:r>
            <a:r>
              <a:rPr lang="ko-KR" altLang="en-US" sz="4800" b="1" dirty="0"/>
              <a:t>오른쪽</a:t>
            </a:r>
            <a:r>
              <a:rPr lang="en-US" altLang="ko-KR" sz="4800" b="1" dirty="0"/>
              <a:t>,</a:t>
            </a:r>
            <a:r>
              <a:rPr lang="ko-KR" altLang="en-US" sz="4800" b="1" dirty="0"/>
              <a:t>왼쪽으로 회전하기</a:t>
            </a:r>
            <a:endParaRPr lang="en-US" altLang="ko-KR" sz="4800" b="1" dirty="0"/>
          </a:p>
          <a:p>
            <a:pPr>
              <a:lnSpc>
                <a:spcPct val="150000"/>
              </a:lnSpc>
            </a:pPr>
            <a:r>
              <a:rPr lang="en-US" altLang="ko-KR" sz="4800" b="1" dirty="0"/>
              <a:t>- </a:t>
            </a:r>
            <a:r>
              <a:rPr lang="ko-KR" altLang="en-US" sz="4800" b="1" dirty="0"/>
              <a:t>색인식하기</a:t>
            </a:r>
            <a:r>
              <a:rPr lang="en-US" altLang="ko-KR" sz="4800" b="1" dirty="0"/>
              <a:t>, </a:t>
            </a:r>
            <a:r>
              <a:rPr lang="ko-KR" altLang="en-US" sz="4800" b="1" dirty="0"/>
              <a:t>물체 인식하기</a:t>
            </a:r>
            <a:endParaRPr lang="en-US" altLang="ko-KR" sz="4800" b="1" dirty="0"/>
          </a:p>
          <a:p>
            <a:pPr>
              <a:lnSpc>
                <a:spcPct val="150000"/>
              </a:lnSpc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2042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0" y="850566"/>
            <a:ext cx="8393029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로봇은 어떻게 움직일까</a:t>
            </a:r>
            <a:r>
              <a:rPr lang="en-US" altLang="ko-KR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?</a:t>
            </a:r>
            <a:endParaRPr lang="en-US" sz="44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FBDD6E8-C3C3-EF35-B0B5-827CEFEF673D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132167" y="1974850"/>
            <a:ext cx="14235287" cy="657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744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0" y="850566"/>
            <a:ext cx="8168639" cy="6353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로봇과 스마트기기 연결</a:t>
            </a:r>
            <a:endParaRPr lang="en-US" sz="44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12">
            <a:extLst>
              <a:ext uri="{FF2B5EF4-FFF2-40B4-BE49-F238E27FC236}">
                <a16:creationId xmlns:a16="http://schemas.microsoft.com/office/drawing/2014/main" id="{00C33792-E297-D7F3-589A-707DFBC29EC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768865"/>
            <a:ext cx="14907397" cy="674251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368034" y="4186143"/>
            <a:ext cx="2715938" cy="2926764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12801947" y="4967156"/>
            <a:ext cx="262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err="1">
                <a:solidFill>
                  <a:srgbClr val="FF0000"/>
                </a:solidFill>
                <a:latin typeface="+mn-ea"/>
              </a:rPr>
              <a:t>어썸봇</a:t>
            </a:r>
            <a:r>
              <a:rPr lang="ko-KR" altLang="en-US" sz="3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3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ko-KR" altLang="en-US" sz="3600" b="1" dirty="0">
                <a:solidFill>
                  <a:srgbClr val="FF0000"/>
                </a:solidFill>
                <a:latin typeface="+mn-ea"/>
              </a:rPr>
              <a:t>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8034" y="6397216"/>
            <a:ext cx="30309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err="1">
                <a:solidFill>
                  <a:srgbClr val="FF0000"/>
                </a:solidFill>
                <a:latin typeface="+mn-ea"/>
              </a:rPr>
              <a:t>테블릿</a:t>
            </a:r>
            <a:r>
              <a:rPr lang="ko-KR" altLang="en-US" sz="32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3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ko-KR" altLang="en-US" sz="3200" b="1" dirty="0">
                <a:solidFill>
                  <a:srgbClr val="FF0000"/>
                </a:solidFill>
                <a:latin typeface="+mn-ea"/>
              </a:rPr>
              <a:t>타입</a:t>
            </a:r>
          </a:p>
        </p:txBody>
      </p:sp>
      <p:pic>
        <p:nvPicPr>
          <p:cNvPr id="15" name="Object 27">
            <a:extLst>
              <a:ext uri="{FF2B5EF4-FFF2-40B4-BE49-F238E27FC236}">
                <a16:creationId xmlns:a16="http://schemas.microsoft.com/office/drawing/2014/main" id="{2469A303-B0F6-16EA-B749-0876BD5D07DF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/>
          <a:srcRect l="11540" t="19750" r="52152" b="35351"/>
          <a:stretch/>
        </p:blipFill>
        <p:spPr>
          <a:xfrm rot="5400000">
            <a:off x="13050496" y="5446059"/>
            <a:ext cx="1810960" cy="230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52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0" y="850566"/>
            <a:ext cx="8168639" cy="6353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44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로봇과 스마트기기 연결</a:t>
            </a:r>
            <a:endParaRPr lang="en-US" sz="44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10" name="내용 개체 틀 20">
            <a:extLst>
              <a:ext uri="{FF2B5EF4-FFF2-40B4-BE49-F238E27FC236}">
                <a16:creationId xmlns:a16="http://schemas.microsoft.com/office/drawing/2014/main" id="{3DA8884B-94AD-EA28-9EC1-D6468060CD0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350" y="2165615"/>
            <a:ext cx="5286535" cy="7048714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450FE173-D75F-1043-1163-81BD3C3B7136}"/>
              </a:ext>
            </a:extLst>
          </p:cNvPr>
          <p:cNvSpPr/>
          <p:nvPr/>
        </p:nvSpPr>
        <p:spPr>
          <a:xfrm>
            <a:off x="2732170" y="6408281"/>
            <a:ext cx="1001629" cy="1008254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F7A93A0-7967-618A-BBDF-65B477926748}"/>
              </a:ext>
            </a:extLst>
          </p:cNvPr>
          <p:cNvCxnSpPr>
            <a:cxnSpLocks/>
            <a:stCxn id="11" idx="6"/>
            <a:endCxn id="21" idx="1"/>
          </p:cNvCxnSpPr>
          <p:nvPr/>
        </p:nvCxnSpPr>
        <p:spPr>
          <a:xfrm>
            <a:off x="3733799" y="6912408"/>
            <a:ext cx="5181601" cy="64706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DABDD725-ABB7-E245-0B23-EBA4ADC0718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363" y="5841207"/>
            <a:ext cx="2286000" cy="24003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84172F-6D14-F740-4CAF-2E9FCF8414A3}"/>
              </a:ext>
            </a:extLst>
          </p:cNvPr>
          <p:cNvSpPr txBox="1"/>
          <p:nvPr/>
        </p:nvSpPr>
        <p:spPr>
          <a:xfrm>
            <a:off x="12221989" y="6782390"/>
            <a:ext cx="530401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어썸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4400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블럭앱에</a:t>
            </a:r>
            <a:r>
              <a:rPr lang="ko-KR" altLang="en-US" sz="44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연결</a:t>
            </a:r>
            <a:endParaRPr lang="en-US" altLang="ko-KR" sz="4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endParaRPr lang="ko-KR" altLang="en-US" sz="4400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50FE173-D75F-1043-1163-81BD3C3B7136}"/>
              </a:ext>
            </a:extLst>
          </p:cNvPr>
          <p:cNvSpPr/>
          <p:nvPr/>
        </p:nvSpPr>
        <p:spPr>
          <a:xfrm>
            <a:off x="8915400" y="5457928"/>
            <a:ext cx="2910679" cy="303837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3483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2171" y="850566"/>
            <a:ext cx="12926928" cy="63533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en-US" sz="3600" b="0" i="0" u="none" strike="noStrike" dirty="0" err="1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AsomeBlock</a:t>
            </a:r>
            <a:r>
              <a:rPr lang="en-US" sz="36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sz="36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프로그램 시작하기</a:t>
            </a:r>
            <a:endParaRPr lang="en-US" sz="3600" b="0" i="0" u="none" strike="noStrike" dirty="0">
              <a:solidFill>
                <a:srgbClr val="2E2E2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28">
            <a:extLst>
              <a:ext uri="{FF2B5EF4-FFF2-40B4-BE49-F238E27FC236}">
                <a16:creationId xmlns:a16="http://schemas.microsoft.com/office/drawing/2014/main" id="{069B5BA5-D676-D3A8-C32E-2893CCB627D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42" y="2013215"/>
            <a:ext cx="15826867" cy="713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639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0500" y="635660"/>
            <a:ext cx="7504028" cy="10734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 err="1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블럭코딩</a:t>
            </a:r>
            <a:r>
              <a:rPr lang="en-US" altLang="ko-KR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6000" b="0" i="0" u="none" strike="noStrike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준비</a:t>
            </a:r>
            <a:r>
              <a:rPr lang="en-US" altLang="ko-KR" sz="6000" b="0" i="0" u="none" strike="noStrike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,</a:t>
            </a:r>
            <a:r>
              <a:rPr lang="ko-KR" altLang="en-US" sz="6000" b="0" i="0" u="none" strike="noStrike" dirty="0" err="1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차렷</a:t>
            </a:r>
            <a:endParaRPr lang="en-US" sz="6000" b="0" i="0" u="none" strike="noStrike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32">
            <a:extLst>
              <a:ext uri="{FF2B5EF4-FFF2-40B4-BE49-F238E27FC236}">
                <a16:creationId xmlns:a16="http://schemas.microsoft.com/office/drawing/2014/main" id="{E9156668-AC98-EBA8-046A-5EACA3D635E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1022" y="2025650"/>
            <a:ext cx="15163800" cy="6858489"/>
          </a:xfrm>
          <a:prstGeom prst="rect">
            <a:avLst/>
          </a:prstGeom>
        </p:spPr>
      </p:pic>
      <p:pic>
        <p:nvPicPr>
          <p:cNvPr id="10" name="내용 개체 틀 36">
            <a:extLst>
              <a:ext uri="{FF2B5EF4-FFF2-40B4-BE49-F238E27FC236}">
                <a16:creationId xmlns:a16="http://schemas.microsoft.com/office/drawing/2014/main" id="{FCBFB1CA-0AAE-C13E-5509-CC20B911495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8372" y="1485900"/>
            <a:ext cx="2874768" cy="2895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CBC120-3BD1-98F7-7805-A88F10B6D4C5}"/>
              </a:ext>
            </a:extLst>
          </p:cNvPr>
          <p:cNvSpPr txBox="1"/>
          <p:nvPr/>
        </p:nvSpPr>
        <p:spPr>
          <a:xfrm>
            <a:off x="12509592" y="4397205"/>
            <a:ext cx="5040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베이직</a:t>
            </a:r>
          </a:p>
        </p:txBody>
      </p:sp>
    </p:spTree>
    <p:extLst>
      <p:ext uri="{BB962C8B-B14F-4D97-AF65-F5344CB8AC3E}">
        <p14:creationId xmlns:p14="http://schemas.microsoft.com/office/powerpoint/2010/main" val="770952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0500" y="635660"/>
            <a:ext cx="7504028" cy="10734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 err="1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블럭코딩</a:t>
            </a:r>
            <a:r>
              <a:rPr lang="en-US" altLang="ko-KR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6000" b="0" i="0" u="none" strike="noStrike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걷기</a:t>
            </a:r>
            <a:endParaRPr lang="en-US" sz="6000" b="0" i="0" u="none" strike="noStrike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40">
            <a:extLst>
              <a:ext uri="{FF2B5EF4-FFF2-40B4-BE49-F238E27FC236}">
                <a16:creationId xmlns:a16="http://schemas.microsoft.com/office/drawing/2014/main" id="{56EC9551-2375-4CC4-E426-AFF9D438B25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171" y="2189985"/>
            <a:ext cx="14791231" cy="7107474"/>
          </a:xfrm>
          <a:prstGeom prst="rect">
            <a:avLst/>
          </a:prstGeom>
        </p:spPr>
      </p:pic>
      <p:pic>
        <p:nvPicPr>
          <p:cNvPr id="10" name="내용 개체 틀 44">
            <a:extLst>
              <a:ext uri="{FF2B5EF4-FFF2-40B4-BE49-F238E27FC236}">
                <a16:creationId xmlns:a16="http://schemas.microsoft.com/office/drawing/2014/main" id="{6C8CFD61-1FB6-37BB-5AFC-AFC6FE54AA7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3969" y="1547837"/>
            <a:ext cx="3724589" cy="3750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246962-560C-9FAD-9449-4D2CA085E269}"/>
              </a:ext>
            </a:extLst>
          </p:cNvPr>
          <p:cNvSpPr txBox="1"/>
          <p:nvPr/>
        </p:nvSpPr>
        <p:spPr>
          <a:xfrm>
            <a:off x="13373590" y="5056040"/>
            <a:ext cx="5040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워크</a:t>
            </a:r>
          </a:p>
        </p:txBody>
      </p:sp>
    </p:spTree>
    <p:extLst>
      <p:ext uri="{BB962C8B-B14F-4D97-AF65-F5344CB8AC3E}">
        <p14:creationId xmlns:p14="http://schemas.microsoft.com/office/powerpoint/2010/main" val="171758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0A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419100" y="7658100"/>
            <a:ext cx="19126200" cy="2984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7795" y="1232165"/>
            <a:ext cx="16954500" cy="8305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81171" y="552450"/>
            <a:ext cx="8168640" cy="1371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5400000">
            <a:off x="2349500" y="1206500"/>
            <a:ext cx="495300" cy="63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2730500" y="635660"/>
            <a:ext cx="7504028" cy="1073484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40000"/>
              </a:lnSpc>
            </a:pPr>
            <a:r>
              <a:rPr lang="ko-KR" altLang="en-US" sz="6000" b="0" i="0" u="none" strike="noStrike" dirty="0" err="1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블럭코딩</a:t>
            </a:r>
            <a:r>
              <a:rPr lang="en-US" altLang="ko-KR" sz="6000" b="0" i="0" u="none" strike="noStrike" dirty="0">
                <a:solidFill>
                  <a:srgbClr val="2E2E2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</a:t>
            </a:r>
            <a:r>
              <a:rPr lang="ko-KR" altLang="en-US" sz="6000" b="0" i="0" u="none" strike="noStrike" dirty="0">
                <a:solidFill>
                  <a:srgbClr val="FF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기다리기</a:t>
            </a:r>
            <a:endParaRPr lang="en-US" sz="6000" b="0" i="0" u="none" strike="noStrike" dirty="0">
              <a:solidFill>
                <a:srgbClr val="FF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714500" y="927100"/>
            <a:ext cx="596900" cy="6096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40000"/>
              </a:lnSpc>
            </a:pPr>
            <a:r>
              <a:rPr lang="en-US" sz="3500" b="0" i="0" u="none" strike="noStrike" dirty="0">
                <a:solidFill>
                  <a:srgbClr val="2E2E2E"/>
                </a:solidFill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01</a:t>
            </a:r>
          </a:p>
        </p:txBody>
      </p:sp>
      <p:pic>
        <p:nvPicPr>
          <p:cNvPr id="27" name="Picture 35">
            <a:extLst>
              <a:ext uri="{FF2B5EF4-FFF2-40B4-BE49-F238E27FC236}">
                <a16:creationId xmlns:a16="http://schemas.microsoft.com/office/drawing/2014/main" id="{AB9DF4B9-E88E-4CCD-B944-E9DBC8B1C26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1537" y="261939"/>
            <a:ext cx="1103227" cy="1763711"/>
          </a:xfrm>
          <a:prstGeom prst="rect">
            <a:avLst/>
          </a:prstGeom>
        </p:spPr>
      </p:pic>
      <p:pic>
        <p:nvPicPr>
          <p:cNvPr id="4" name="내용 개체 틀 48">
            <a:extLst>
              <a:ext uri="{FF2B5EF4-FFF2-40B4-BE49-F238E27FC236}">
                <a16:creationId xmlns:a16="http://schemas.microsoft.com/office/drawing/2014/main" id="{B746730B-F637-4D0E-CCC5-3CF4E7FCC2F3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7852"/>
            <a:ext cx="14554200" cy="6527092"/>
          </a:xfrm>
          <a:prstGeom prst="rect">
            <a:avLst/>
          </a:prstGeom>
        </p:spPr>
      </p:pic>
      <p:pic>
        <p:nvPicPr>
          <p:cNvPr id="10" name="내용 개체 틀 52">
            <a:extLst>
              <a:ext uri="{FF2B5EF4-FFF2-40B4-BE49-F238E27FC236}">
                <a16:creationId xmlns:a16="http://schemas.microsoft.com/office/drawing/2014/main" id="{85861B56-5517-C967-0548-E1B452DD05D5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4225" y="1555306"/>
            <a:ext cx="3005080" cy="29844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BCC8A60-42AA-A3FA-2169-607ACA842D31}"/>
              </a:ext>
            </a:extLst>
          </p:cNvPr>
          <p:cNvSpPr txBox="1"/>
          <p:nvPr/>
        </p:nvSpPr>
        <p:spPr>
          <a:xfrm>
            <a:off x="13602285" y="4579829"/>
            <a:ext cx="46478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0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어드밴스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1B6AC2E6-B142-2F76-7509-D631E9D9C5B3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82000" y="6827846"/>
            <a:ext cx="8242216" cy="229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12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</TotalTime>
  <Words>268</Words>
  <Application>Microsoft Office PowerPoint</Application>
  <PresentationFormat>사용자 지정</PresentationFormat>
  <Paragraphs>82</Paragraphs>
  <Slides>20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나눔고딕 ExtraBold</vt:lpstr>
      <vt:lpstr>맑은 고딕</vt:lpstr>
      <vt:lpstr>Arial</vt:lpstr>
      <vt:lpstr>나눔스퀘어OTF_ac Bold</vt:lpstr>
      <vt:lpstr>나눔스퀘어OTF ExtraBold</vt:lpstr>
      <vt:lpstr>Calibri</vt:lpstr>
      <vt:lpstr>Office Theme</vt:lpstr>
      <vt:lpstr>PowerPoint 프레젠테이션</vt:lpstr>
      <vt:lpstr>인간의 학습능력과 추론능력, 지각능력, 자연언어의 이해능력 등을 컴퓨터 프로그램으로 실현한 기술은?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LEEMY</cp:lastModifiedBy>
  <cp:revision>51</cp:revision>
  <dcterms:created xsi:type="dcterms:W3CDTF">2006-08-16T00:00:00Z</dcterms:created>
  <dcterms:modified xsi:type="dcterms:W3CDTF">2026-10-07T00:53:31Z</dcterms:modified>
</cp:coreProperties>
</file>